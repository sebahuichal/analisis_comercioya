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47472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73152"/>
            <a:ext cx="5669280" cy="50703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474720"/>
            <a:ext cx="1645920" cy="1645920"/>
          </a:xfrm>
          <a:prstGeom prst="ellipse">
            <a:avLst/>
          </a:prstGeom>
          <a:solidFill>
            <a:srgbClr val="0D7870">
              <a:alpha val="60000"/>
            </a:srgbClr>
          </a:solidFill>
          <a:ln w="12700">
            <a:solidFill>
              <a:srgbClr val="0D78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4114800"/>
            <a:ext cx="2286000" cy="2286000"/>
          </a:xfrm>
          <a:prstGeom prst="ellipse">
            <a:avLst/>
          </a:prstGeom>
          <a:solidFill>
            <a:srgbClr val="0A6560">
              <a:alpha val="40000"/>
            </a:srgbClr>
          </a:solidFill>
          <a:ln w="12700">
            <a:solidFill>
              <a:srgbClr val="0A6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11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COMERCIOYA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9144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4904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4 — Informe Ejecutivo EDA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49040" y="297180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3154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49040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3154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40680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3154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132320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4480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914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Análisis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8600" y="19202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 representativo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comportamiento de clientes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plataforma de e-commerce.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560320" cy="50703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Informe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97480" y="502920"/>
            <a:ext cx="6263640" cy="658368"/>
          </a:xfrm>
          <a:prstGeom prst="rect">
            <a:avLst/>
          </a:prstGeom>
          <a:solidFill>
            <a:srgbClr val="EBF4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02920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66751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5669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Inicial de Datos (IDA)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850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Estructura, nulos e inconsistencias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1261872"/>
            <a:ext cx="62636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261872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42646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325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60934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central, dispersión y outliers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97480" y="2020824"/>
            <a:ext cx="6263640" cy="658368"/>
          </a:xfrm>
          <a:prstGeom prst="rect">
            <a:avLst/>
          </a:prstGeom>
          <a:solidFill>
            <a:srgbClr val="EBF4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7480" y="2020824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18541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0848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Correlación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3682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Pearson, heatmap y correlaciones espurias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97480" y="2779776"/>
            <a:ext cx="62636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7480" y="2779776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9443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84378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127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simple y múltiple, R², p-valores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97480" y="3538728"/>
            <a:ext cx="6263640" cy="658368"/>
          </a:xfrm>
          <a:prstGeom prst="rect">
            <a:avLst/>
          </a:prstGeom>
          <a:solidFill>
            <a:srgbClr val="EBF4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7480" y="3538728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7033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6027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Visual Avanzado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8862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Violin, pairplot, FacetGrid y multivariable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97480" y="4297680"/>
            <a:ext cx="62636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7480" y="4297680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446227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91840" y="43616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con Matplotlib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91840" y="46451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Subplots, anotaciones y exportación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246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Inicial de Datos (IDA)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Calidad del Dataset ComercioYA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1417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2651760" cy="91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984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Valores Nulos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5727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" y="19751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 visitas · 1 en reseña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51760" cy="1417320"/>
          </a:xfrm>
          <a:prstGeom prst="rect">
            <a:avLst/>
          </a:prstGeom>
          <a:solidFill>
            <a:srgbClr val="FDECEA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88720"/>
            <a:ext cx="265176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2984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Monto Negativo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15727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-$350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01568" y="19751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lógico en id_cliente 16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65176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188720"/>
            <a:ext cx="265176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2984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Outlier Extremo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15727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$18,500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36208" y="19751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 889 · Riesgo de sesgo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788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de Variables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178308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2011680"/>
                <a:gridCol w="3200400"/>
              </a:tblGrid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Tipo Dato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Naturaleza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id_cliente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int64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Categórica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Identificador único (no operable)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visitas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float64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Cuantitativa Discreta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Ingresos al sitio web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compras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int64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Cuantitativa Discreta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Volumen de transacciones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monto_total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float64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Cuantitativa Continua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Valor monetario de compra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devoluciones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int64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Cuantitativa Discreta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Productos retornados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reseña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object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Categórica Ordinal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Percepción del cliente</a:t>
                      </a:r>
                      <a:endParaRPr lang="en-US" sz="950" dirty="0"/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246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— Monto Total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1920240" cy="960120"/>
          </a:xfrm>
          <a:prstGeom prst="rect">
            <a:avLst/>
          </a:prstGeom>
          <a:solidFill>
            <a:srgbClr val="EB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$1,250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Inflada por outlier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96312" y="749808"/>
            <a:ext cx="1920240" cy="960120"/>
          </a:xfrm>
          <a:prstGeom prst="rect">
            <a:avLst/>
          </a:prstGeom>
          <a:solidFill>
            <a:srgbClr val="EB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8046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87752" y="1005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87752" y="1371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robusta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81144" y="749808"/>
            <a:ext cx="1920240" cy="960120"/>
          </a:xfrm>
          <a:prstGeom prst="rect">
            <a:avLst/>
          </a:prstGeom>
          <a:solidFill>
            <a:srgbClr val="EB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8046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72584" y="1005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72584" y="1371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variabilidad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65976" y="749808"/>
            <a:ext cx="1920240" cy="960120"/>
          </a:xfrm>
          <a:prstGeom prst="rect">
            <a:avLst/>
          </a:prstGeom>
          <a:solidFill>
            <a:srgbClr val="EB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8046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Upper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57416" y="1005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$3,759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57416" y="1371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IQR×1.5</a:t>
            </a:r>
            <a:endParaRPr lang="en-US" sz="8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74520"/>
            <a:ext cx="4023360" cy="301752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74520"/>
            <a:ext cx="4389120" cy="30175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5760" y="47548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Boxplot: 1 outlier extremo detectado ($18,500)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526280" y="47548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Histogramas: distribución uniforme en compras y monto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246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Correlación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47548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777240"/>
            <a:ext cx="3520440" cy="3474720"/>
          </a:xfrm>
          <a:prstGeom prst="rect">
            <a:avLst/>
          </a:prstGeom>
          <a:solidFill>
            <a:srgbClr val="EB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0" y="777240"/>
            <a:ext cx="35204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8686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40680" y="1325880"/>
            <a:ext cx="2743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compras-monto: r = 0.025 (cerca de 0)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40680" y="1783080"/>
            <a:ext cx="2743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0.43 → No significativo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240280"/>
            <a:ext cx="2743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correlación lineal entre ningún par de variables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40680" y="2697480"/>
            <a:ext cx="27432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actúan de forma independiente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40680" y="3154680"/>
            <a:ext cx="27432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no predicen compras ni monto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03520" y="4389120"/>
            <a:ext cx="3520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40680" y="44622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0.025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nula compras → monto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36576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espurias: toda relación alta requiere validación causal antes de actuar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246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— Resultados del Modelo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502920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777240"/>
            <a:ext cx="32461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822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del Modelo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0" y="10789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 = 1,163 + 2.74×compras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+ 0.62×visitas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77840" y="1874520"/>
            <a:ext cx="324612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040880" y="1938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212140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poder predictivo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577840" y="2350008"/>
            <a:ext cx="324612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2414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040880" y="2414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$638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0" y="2596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promedio muy alto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577840" y="2825496"/>
            <a:ext cx="324612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2889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040880" y="28895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0" y="3072384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amplifican error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577840" y="3300984"/>
            <a:ext cx="3246120" cy="420624"/>
          </a:xfrm>
          <a:prstGeom prst="rect">
            <a:avLst/>
          </a:prstGeom>
          <a:solidFill>
            <a:srgbClr val="EB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0" y="3364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compras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040880" y="3364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69280" y="35478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significativo (&gt;0.05)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577840" y="3776472"/>
            <a:ext cx="3246120" cy="420624"/>
          </a:xfrm>
          <a:prstGeom prst="rect">
            <a:avLst/>
          </a:prstGeom>
          <a:solidFill>
            <a:srgbClr val="EB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visitas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04088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69280" y="40233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significativo (&gt;0.05)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577840" y="4343400"/>
            <a:ext cx="3246120" cy="685800"/>
          </a:xfrm>
          <a:prstGeom prst="rect">
            <a:avLst/>
          </a:prstGeom>
          <a:solidFill>
            <a:srgbClr val="EB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0" y="4389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El modelo lineal no es válido para ComercioYA. Las ventas dependen de variables externas (tipo de producto, temporalidad, descuentos).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246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Visual Avanzado — Seaborn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4572000" cy="25603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777240"/>
            <a:ext cx="3840480" cy="2560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3520440"/>
            <a:ext cx="2697480" cy="1463040"/>
          </a:xfrm>
          <a:prstGeom prst="rect">
            <a:avLst/>
          </a:prstGeom>
          <a:solidFill>
            <a:srgbClr val="EBF4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3520440"/>
            <a:ext cx="73152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35661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Paradoja de Satisfacción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30352" y="385876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violines son casi idénticos. Clientes con reseña Negativa gastan igual que los de reseña Positiva.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46120" y="3520440"/>
            <a:ext cx="2697480" cy="1463040"/>
          </a:xfrm>
          <a:prstGeom prst="rect">
            <a:avLst/>
          </a:prstGeom>
          <a:solidFill>
            <a:srgbClr val="EBF4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46120" y="352044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10712" y="35661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Devoluciones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10712" y="385876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gasto promedio: reseña Positiva + 1 devolución ($1,441 USD). Con 4 devoluciones cae a $1,035 USD.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3520440"/>
            <a:ext cx="2697480" cy="1463040"/>
          </a:xfrm>
          <a:prstGeom prst="rect">
            <a:avLst/>
          </a:prstGeom>
          <a:solidFill>
            <a:srgbClr val="EBF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26480" y="3520440"/>
            <a:ext cx="73152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91072" y="35661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Independiente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291072" y="385876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de gasto no garantiza satisfacción. El riesgo de fuga es alto ante un competidor.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246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Subplots, Anotaciones y Exportación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576072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777240"/>
            <a:ext cx="2514600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90525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9235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48272" y="82296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plt.subplots()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48272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el lienzo en una cuadrícula de gráficos con control total de posicionamiento.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309360" y="1600200"/>
            <a:ext cx="2514600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172821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174650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48272" y="164592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48272" y="1892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Títulos, etiquetas, ticks y leyendas con fontweight, fontsize y alpha.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9360" y="2423160"/>
            <a:ext cx="2514600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255117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256946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48272" y="246888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plt.annotate()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48272" y="2715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 valores atípicos con flechas y texto directamente sobre el gráfico.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309360" y="3246120"/>
            <a:ext cx="2514600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3741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33924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48272" y="329184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savefig()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748272" y="3538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en PNG (300dpi), PDF vectorial y SVG editable.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65760" y="4114800"/>
            <a:ext cx="57607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1605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6 cierra el ciclo EDA: de los datos brutos a gráficos listos para reportes ejecutivos y presentaciones.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7870">
              <a:alpha val="30000"/>
            </a:srgbClr>
          </a:solidFill>
          <a:ln w="12700">
            <a:solidFill>
              <a:srgbClr val="0D78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Ejecutivas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ComercioYA — EDA Completo · 6 Lecciones · 1,000 Clientes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206240" cy="1645920"/>
          </a:xfrm>
          <a:prstGeom prst="rect">
            <a:avLst/>
          </a:prstGeom>
          <a:solidFill>
            <a:srgbClr val="16203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3560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≠ Ingresos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0.025. Un cliente que visita más la web no gasta más. La estrategia de crecimiento no debe basarse en atraer más tráfico sino en mejorar la conversión.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4206240" cy="1645920"/>
          </a:xfrm>
          <a:prstGeom prst="rect">
            <a:avLst/>
          </a:prstGeom>
          <a:solidFill>
            <a:srgbClr val="16203A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325880"/>
            <a:ext cx="420624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43560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Paradoja de Satisfacción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0328" y="182880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de gasto es idéntica entre reseñas Positivas y Negativas. El cliente compra por necesidad pese a la mala experiencia — riesgo crítico.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206240" cy="1645920"/>
          </a:xfrm>
          <a:prstGeom prst="rect">
            <a:avLst/>
          </a:prstGeom>
          <a:solidFill>
            <a:srgbClr val="16203A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420624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264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26440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Devoluciones Penalizan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65760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devoluciones → gasto cae a $1,035 USD vs $1,441 con solo 1. La logística inversa limita el ticket de los clientes más activos.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3154680"/>
            <a:ext cx="4206240" cy="1645920"/>
          </a:xfrm>
          <a:prstGeom prst="rect">
            <a:avLst/>
          </a:prstGeom>
          <a:solidFill>
            <a:srgbClr val="16203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154680"/>
            <a:ext cx="420624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3264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26440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Faltantes Críticos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0328" y="365760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predecir ventas, ComercioYA necesita capturar: categoría de producto, temporalidad, descuentos aplicados y tiempos de entrega.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con Python · pandas · matplotlib · seaborn · statsmodels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ComercioYA - Informe Final</dc:title>
  <dc:subject>PptxGenJS Presentation</dc:subject>
  <dc:creator>PptxGenJS</dc:creator>
  <cp:lastModifiedBy>PptxGenJS</cp:lastModifiedBy>
  <cp:revision>1</cp:revision>
  <dcterms:created xsi:type="dcterms:W3CDTF">2026-02-19T03:09:55Z</dcterms:created>
  <dcterms:modified xsi:type="dcterms:W3CDTF">2026-02-19T03:09:55Z</dcterms:modified>
</cp:coreProperties>
</file>